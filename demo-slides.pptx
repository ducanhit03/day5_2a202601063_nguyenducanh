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b9e551f3654357" /><Relationship Type="http://schemas.openxmlformats.org/officeDocument/2006/relationships/extended-properties" Target="/docProps/app.xml" Id="R836639748905476a" /><Relationship Type="http://schemas.openxmlformats.org/officeDocument/2006/relationships/officeDocument" Target="/ppt/presentation.xml" Id="Rb1c0861893a643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1983a6a4664908"/>
  </p:sldMasterIdLst>
  <p:notesMasterIdLst>
    <p:notesMasterId xmlns:r="http://schemas.openxmlformats.org/officeDocument/2006/relationships" r:id="R38cf4887d2c44d3c"/>
  </p:notesMasterIdLst>
  <p:sldIdLst>
    <p:sldId xmlns:r="http://schemas.openxmlformats.org/officeDocument/2006/relationships" id="256" r:id="R0c8d8ddb50a24f32"/>
    <p:sldId xmlns:r="http://schemas.openxmlformats.org/officeDocument/2006/relationships" id="257" r:id="R534fa7e9f6fd43ec"/>
    <p:sldId xmlns:r="http://schemas.openxmlformats.org/officeDocument/2006/relationships" id="258" r:id="R744beba605d14e72"/>
    <p:sldId xmlns:r="http://schemas.openxmlformats.org/officeDocument/2006/relationships" id="259" r:id="R67b49b915ea744a9"/>
    <p:sldId xmlns:r="http://schemas.openxmlformats.org/officeDocument/2006/relationships" id="260" r:id="R4b2f0263a8474cd5"/>
    <p:sldId xmlns:r="http://schemas.openxmlformats.org/officeDocument/2006/relationships" id="261" r:id="R5fcec90242db4b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9b400d31c84cbc" /><Relationship Type="http://schemas.openxmlformats.org/officeDocument/2006/relationships/slideMaster" Target="/ppt/slideMasters/slideMaster1.xml" Id="R931983a6a4664908" /><Relationship Type="http://schemas.openxmlformats.org/officeDocument/2006/relationships/notesMaster" Target="/ppt/notesMasters/notesMaster1.xml" Id="R38cf4887d2c44d3c" /><Relationship Type="http://schemas.openxmlformats.org/officeDocument/2006/relationships/presProps" Target="/ppt/presProps.xml" Id="Rb1e7c1837cab493d" /><Relationship Type="http://schemas.openxmlformats.org/officeDocument/2006/relationships/tableStyles" Target="/ppt/tableStyles.xml" Id="R45fd29cc81fc4b4d" /><Relationship Type="http://schemas.openxmlformats.org/officeDocument/2006/relationships/slide" Target="/ppt/slides/slide1.xml" Id="R0c8d8ddb50a24f32" /><Relationship Type="http://schemas.openxmlformats.org/officeDocument/2006/relationships/slide" Target="/ppt/slides/slide2.xml" Id="R534fa7e9f6fd43ec" /><Relationship Type="http://schemas.openxmlformats.org/officeDocument/2006/relationships/slide" Target="/ppt/slides/slide3.xml" Id="R744beba605d14e72" /><Relationship Type="http://schemas.openxmlformats.org/officeDocument/2006/relationships/slide" Target="/ppt/slides/slide4.xml" Id="R67b49b915ea744a9" /><Relationship Type="http://schemas.openxmlformats.org/officeDocument/2006/relationships/slide" Target="/ppt/slides/slide5.xml" Id="R4b2f0263a8474cd5" /><Relationship Type="http://schemas.openxmlformats.org/officeDocument/2006/relationships/slide" Target="/ppt/slides/slide6.xml" Id="R5fcec90242db4b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8a8ee3a4a144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051ab92b7947bd" /><Relationship Type="http://schemas.openxmlformats.org/officeDocument/2006/relationships/notesMaster" Target="/ppt/notesMasters/notesMaster1.xml" Id="Rd2ccdc6fa94f4f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fe893a835a493c" /><Relationship Type="http://schemas.openxmlformats.org/officeDocument/2006/relationships/notesMaster" Target="/ppt/notesMasters/notesMaster1.xml" Id="R76ed77b17be14f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20c3de05804e4e" /><Relationship Type="http://schemas.openxmlformats.org/officeDocument/2006/relationships/notesMaster" Target="/ppt/notesMasters/notesMaster1.xml" Id="Rfb086d0f7e6541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0ea443eb6845e6" /><Relationship Type="http://schemas.openxmlformats.org/officeDocument/2006/relationships/notesMaster" Target="/ppt/notesMasters/notesMaster1.xml" Id="Rb861b6dc848841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fc33a992f34325" /><Relationship Type="http://schemas.openxmlformats.org/officeDocument/2006/relationships/notesMaster" Target="/ppt/notesMasters/notesMaster1.xml" Id="Re18eb665428549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f998df015d443f" /><Relationship Type="http://schemas.openxmlformats.org/officeDocument/2006/relationships/notesMaster" Target="/ppt/notesMasters/notesMaster1.xml" Id="Rf830c1b8c42846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2c2d7165c749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8648d598804497" /><Relationship Type="http://schemas.openxmlformats.org/officeDocument/2006/relationships/slideLayout" Target="/ppt/slideLayouts/slideLayout1.xml" Id="R0806d5da2e4a4c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06d5da2e4a4c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253f80c3c74954" /><Relationship Type="http://schemas.openxmlformats.org/officeDocument/2006/relationships/notesSlide" Target="/ppt/notesSlides/notesSlide1.xml" Id="R2bed2ff8a3464f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eb1fe086ef485b" /><Relationship Type="http://schemas.openxmlformats.org/officeDocument/2006/relationships/notesSlide" Target="/ppt/notesSlides/notesSlide2.xml" Id="Ra224b2ff845b4e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808acb97e45ca" /><Relationship Type="http://schemas.openxmlformats.org/officeDocument/2006/relationships/notesSlide" Target="/ppt/notesSlides/notesSlide3.xml" Id="Rd2434c35930745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5881c2713b44eb" /><Relationship Type="http://schemas.openxmlformats.org/officeDocument/2006/relationships/notesSlide" Target="/ppt/notesSlides/notesSlide4.xml" Id="R2077d7b0231a41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0fb3bdf0a427b" /><Relationship Type="http://schemas.openxmlformats.org/officeDocument/2006/relationships/notesSlide" Target="/ppt/notesSlides/notesSlide5.xml" Id="Rc5ec1b24b80a46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735009eb943d1" /><Relationship Type="http://schemas.openxmlformats.org/officeDocument/2006/relationships/notesSlide" Target="/ppt/notesSlides/notesSlide6.xml" Id="Re96ef958083f48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11D8E1-3E34-4D8F-837A-B0DF657F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FC0FF"/>
                </a:solidFill>
              </a:defRPr>
            </a:pPr>
            <a:r>
              <a:rPr sz="1200" b="1">
                <a:solidFill>
                  <a:srgbClr val="AFC0FF"/>
                </a:solidFill>
              </a:rPr>
              <a:t>VLEARN · MINI HACKATHON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0E5B2-34B8-45AF-995C-FA1BE320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Catch-up Assistant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56FD99-041D-4FAD-94CE-4FCCC7B8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D9E1FF"/>
                </a:solidFill>
              </a:defRPr>
            </a:pPr>
            <a:r>
              <a:rPr sz="2100">
                <a:solidFill>
                  <a:srgbClr val="D9E1FF"/>
                </a:solidFill>
              </a:rPr>
              <a:t>Biết phần nào cần đọc trước — và luôn kiểm chứng được nguồn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5D8945-1F47-455C-B89C-3611E7F3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FC0FF"/>
                </a:solidFill>
              </a:defRPr>
            </a:pPr>
            <a:r>
              <a:rPr sz="1275">
                <a:solidFill>
                  <a:srgbClr val="AFC0FF"/>
                </a:solidFill>
              </a:rPr>
              <a:t>Nguyễn Đức Anh · VLearn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854F6-55EA-4079-A837-86F51EA8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0483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FC0FF"/>
                </a:solidFill>
              </a:defRPr>
            </a:pPr>
            <a:r>
              <a:rPr sz="1200" b="1">
                <a:solidFill>
                  <a:srgbClr val="AFC0FF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006082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39BFDA-0B7B-47D8-A773-2FD9F8DC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CFF"/>
                </a:solidFill>
              </a:defRPr>
            </a:pPr>
            <a:r>
              <a:rPr sz="1200" b="1">
                <a:solidFill>
                  <a:srgbClr val="315CFF"/>
                </a:solidFill>
              </a:rPr>
              <a:t>02 · CATCH-UP ASSISTANT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25E688-8ABC-4797-A604-FBFF1F6B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Một buổi nghỉ tạo ra hai lựa chọn đều đắt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277D74-136F-4B65-9EFE-FBC32959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477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334155"/>
                </a:solidFill>
              </a:defRPr>
            </a:pPr>
            <a:r>
              <a:rPr sz="2025">
                <a:solidFill>
                  <a:srgbClr val="334155"/>
                </a:solidFill>
              </a:rPr>
              <a:t>Đọc hết transcript: tốn thời gian</a:t>
            </a:r>
          </a:p>
          <a:p xmlns:a="http://schemas.openxmlformats.org/drawingml/2006/main">
            <a:pPr>
              <a:defRPr sz="2025">
                <a:solidFill>
                  <a:srgbClr val="334155"/>
                </a:solidFill>
              </a:defRPr>
            </a:pPr>
            <a:r>
              <a:rPr sz="2025">
                <a:solidFill>
                  <a:srgbClr val="334155"/>
                </a:solidFill>
              </a:rPr>
              <a:t>Đọc lướt: dễ bỏ đúng khái niệm quan trọng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334155"/>
                </a:solidFill>
              </a:defRPr>
            </a:pPr>
            <a:r>
              <a:rPr sz="2025">
                <a:solidFill>
                  <a:srgbClr val="334155"/>
                </a:solidFill>
              </a:rPr>
              <a:t>Dữ liệu có 700 đoạn / 6 transcript; 55 đoạn hoạt động lớp.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7AB1B4-EDCE-4435-A4D1-082DADFB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Nguồn: data/vlearn-pack/transcript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7924D8-DB21-48A5-B677-01B2D71A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0483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CFF"/>
                </a:solidFill>
              </a:defRPr>
            </a:pPr>
            <a:r>
              <a:rPr sz="1200" b="1">
                <a:solidFill>
                  <a:srgbClr val="315CFF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261916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40CA00-EEE4-432F-A8AB-1A2D55F0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CFF"/>
                </a:solidFill>
              </a:defRPr>
            </a:pPr>
            <a:r>
              <a:rPr sz="1200" b="1">
                <a:solidFill>
                  <a:srgbClr val="315CFF"/>
                </a:solidFill>
              </a:rPr>
              <a:t>03 · CATCH-UP ASSISTANT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E27FAA-B1A0-46FE-9412-1CD8F8F5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Một lát cắt, một quyết định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79917C-C3A4-474B-B705-C68BD711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477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334155"/>
                </a:solidFill>
              </a:defRPr>
            </a:pPr>
            <a:r>
              <a:rPr sz="2025">
                <a:solidFill>
                  <a:srgbClr val="334155"/>
                </a:solidFill>
              </a:rPr>
              <a:t>Mở 1 buổi đã lỡ</a:t>
            </a:r>
          </a:p>
          <a:p xmlns:a="http://schemas.openxmlformats.org/drawingml/2006/main">
            <a:pPr>
              <a:defRPr sz="2025">
                <a:solidFill>
                  <a:srgbClr val="334155"/>
                </a:solidFill>
              </a:defRPr>
            </a:pPr>
            <a:r>
              <a:rPr sz="2025">
                <a:solidFill>
                  <a:srgbClr val="334155"/>
                </a:solidFill>
              </a:rPr>
              <a:t>→ chọn 3–5 điểm chính</a:t>
            </a:r>
          </a:p>
          <a:p xmlns:a="http://schemas.openxmlformats.org/drawingml/2006/main">
            <a:pPr>
              <a:defRPr sz="2025">
                <a:solidFill>
                  <a:srgbClr val="334155"/>
                </a:solidFill>
              </a:defRPr>
            </a:pPr>
            <a:r>
              <a:rPr sz="2025">
                <a:solidFill>
                  <a:srgbClr val="334155"/>
                </a:solidFill>
              </a:rPr>
              <a:t>→ đối chiếu quiz cũ</a:t>
            </a:r>
          </a:p>
          <a:p xmlns:a="http://schemas.openxmlformats.org/drawingml/2006/main">
            <a:pPr>
              <a:defRPr sz="2025">
                <a:solidFill>
                  <a:srgbClr val="334155"/>
                </a:solidFill>
              </a:defRPr>
            </a:pPr>
            <a:r>
              <a:rPr sz="2025">
                <a:solidFill>
                  <a:srgbClr val="334155"/>
                </a:solidFill>
              </a:rPr>
              <a:t>→ mở đúng đoạn transcript</a:t>
            </a:r>
          </a:p>
          <a:p xmlns:a="http://schemas.openxmlformats.org/drawingml/2006/main">
            <a:pPr>
              <a:defRPr sz="2025">
                <a:solidFill>
                  <a:srgbClr val="334155"/>
                </a:solidFill>
              </a:defRPr>
            </a:pPr>
            <a:r>
              <a:rPr sz="2025">
                <a:solidFill>
                  <a:srgbClr val="334155"/>
                </a:solidFill>
              </a:rPr>
              <a:t>→ hỏi thêm trong phạm vi nguồn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B97126-891D-48BD-81A3-28D74FF8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Augment: người học vẫn là người quyết định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F0755E-2B56-4557-B163-BFA2B1AA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0483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CFF"/>
                </a:solidFill>
              </a:defRPr>
            </a:pPr>
            <a:r>
              <a:rPr sz="1200" b="1">
                <a:solidFill>
                  <a:srgbClr val="315CFF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727393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0571C6-3F7F-42FB-88BF-F4EB1992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CFF"/>
                </a:solidFill>
              </a:defRPr>
            </a:pPr>
            <a:r>
              <a:rPr sz="1200" b="1">
                <a:solidFill>
                  <a:srgbClr val="315CFF"/>
                </a:solidFill>
              </a:rPr>
              <a:t>04 · CATCH-UP ASSISTANT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215D5-E306-4CDA-8D98-2C788564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Prototype giữ đường quay về sự thật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0AA9A5-3A55-43A6-820D-013B1764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477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334155"/>
                </a:solidFill>
              </a:defRPr>
            </a:pPr>
            <a:r>
              <a:rPr sz="2025">
                <a:solidFill>
                  <a:srgbClr val="334155"/>
                </a:solidFill>
              </a:rPr>
              <a:t>Mỗi điểm chính có mã [Txx-NNN]</a:t>
            </a:r>
          </a:p>
          <a:p xmlns:a="http://schemas.openxmlformats.org/drawingml/2006/main">
            <a:pPr>
              <a:defRPr sz="2025">
                <a:solidFill>
                  <a:srgbClr val="334155"/>
                </a:solidFill>
              </a:defRPr>
            </a:pPr>
            <a:r>
              <a:rPr sz="2025">
                <a:solidFill>
                  <a:srgbClr val="334155"/>
                </a:solidFill>
              </a:rPr>
              <a:t>Nhãn quiz luôn kèm lý do</a:t>
            </a:r>
          </a:p>
          <a:p xmlns:a="http://schemas.openxmlformats.org/drawingml/2006/main">
            <a:pPr>
              <a:defRPr sz="2025">
                <a:solidFill>
                  <a:srgbClr val="334155"/>
                </a:solidFill>
              </a:defRPr>
            </a:pPr>
            <a:r>
              <a:rPr sz="2025">
                <a:solidFill>
                  <a:srgbClr val="334155"/>
                </a:solidFill>
              </a:rPr>
              <a:t>Citation không tồn tại bị loại</a:t>
            </a:r>
          </a:p>
          <a:p xmlns:a="http://schemas.openxmlformats.org/drawingml/2006/main">
            <a:pPr>
              <a:defRPr sz="2025">
                <a:solidFill>
                  <a:srgbClr val="334155"/>
                </a:solidFill>
              </a:defRPr>
            </a:pPr>
            <a:r>
              <a:rPr sz="2025">
                <a:solidFill>
                  <a:srgbClr val="334155"/>
                </a:solidFill>
              </a:rPr>
              <a:t>Không đủ căn cứ → từ chối thay vì đoán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6C9EAE-E991-4E4C-85C4-14C447F2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Demo: Day 1 Foundation · [T04-015], [T04-025], [T04-030]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78902-90FE-4DEA-BF5D-F1A1F6B4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0483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CFF"/>
                </a:solidFill>
              </a:defRPr>
            </a:pPr>
            <a:r>
              <a:rPr sz="1200" b="1">
                <a:solidFill>
                  <a:srgbClr val="315CFF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142350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F06692-FCAF-496E-93B9-8F7EE41D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CFF"/>
                </a:solidFill>
              </a:defRPr>
            </a:pPr>
            <a:r>
              <a:rPr sz="1200" b="1">
                <a:solidFill>
                  <a:srgbClr val="315CFF"/>
                </a:solidFill>
              </a:rPr>
              <a:t>05 · CATCH-UP ASSISTANT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D0AAC7-E669-4E68-BA6F-AFA72278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Đo trung thực trước khi tối ưu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38A11D-C959-4C9F-9317-FC84091C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477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334155"/>
                </a:solidFill>
              </a:defRPr>
            </a:pPr>
            <a:r>
              <a:rPr sz="2025">
                <a:solidFill>
                  <a:srgbClr val="334155"/>
                </a:solidFill>
              </a:rPr>
              <a:t>Golden set: 20 case</a:t>
            </a:r>
          </a:p>
          <a:p xmlns:a="http://schemas.openxmlformats.org/drawingml/2006/main">
            <a:pPr>
              <a:defRPr sz="2025">
                <a:solidFill>
                  <a:srgbClr val="334155"/>
                </a:solidFill>
              </a:defRPr>
            </a:pPr>
            <a:r>
              <a:rPr sz="2025">
                <a:solidFill>
                  <a:srgbClr val="334155"/>
                </a:solidFill>
              </a:rPr>
              <a:t>Quality bar: ≥85% tổng</a:t>
            </a:r>
          </a:p>
          <a:p xmlns:a="http://schemas.openxmlformats.org/drawingml/2006/main">
            <a:pPr>
              <a:defRPr sz="2025">
                <a:solidFill>
                  <a:srgbClr val="334155"/>
                </a:solidFill>
              </a:defRPr>
            </a:pPr>
            <a:r>
              <a:rPr sz="2025">
                <a:solidFill>
                  <a:srgbClr val="334155"/>
                </a:solidFill>
              </a:rPr>
              <a:t>Bắt buộc: 100% case nguồn sự thật</a:t>
            </a:r>
          </a:p>
          <a:p xmlns:a="http://schemas.openxmlformats.org/drawingml/2006/main">
            <a:pPr>
              <a:defRPr sz="2025">
                <a:solidFill>
                  <a:srgbClr val="334155"/>
                </a:solidFill>
              </a:defRPr>
            </a:pPr>
            <a:r>
              <a:rPr sz="2025">
                <a:solidFill>
                  <a:srgbClr val="334155"/>
                </a:solidFill>
              </a:rPr>
              <a:t>Bắt buộc: 0 citation bịa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>
                <a:solidFill>
                  <a:srgbClr val="334155"/>
                </a:solidFill>
              </a:defRPr>
            </a:pPr>
            <a:r>
              <a:rPr sz="2025">
                <a:solidFill>
                  <a:srgbClr val="334155"/>
                </a:solidFill>
              </a:rPr>
              <a:t>Hiện tại: 3/3 unit test pass; chưa chạy eval AI vì chưa có API key.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D85832-ACA2-4516-9625-A4EF3441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Không đổi quality bar sau khi thấy kết quả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7AB4F-1B01-40D1-B181-77C07424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0483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CFF"/>
                </a:solidFill>
              </a:defRPr>
            </a:pPr>
            <a:r>
              <a:rPr sz="1200" b="1">
                <a:solidFill>
                  <a:srgbClr val="315CFF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807898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DFA9F7-8704-458B-A129-1DF39015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CFF"/>
                </a:solidFill>
              </a:defRPr>
            </a:pPr>
            <a:r>
              <a:rPr sz="1200" b="1">
                <a:solidFill>
                  <a:srgbClr val="315CFF"/>
                </a:solidFill>
              </a:rPr>
              <a:t>06 · CATCH-UP ASSISTANT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A5D0E9-6324-4A80-A234-6B4D37EE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Bước tiếp theo là bằng chứng người thật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9991A9-E843-4310-8757-E6EB2FE3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477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334155"/>
                </a:solidFill>
              </a:defRPr>
            </a:pPr>
            <a:r>
              <a:rPr sz="2025">
                <a:solidFill>
                  <a:srgbClr val="334155"/>
                </a:solidFill>
              </a:rPr>
              <a:t>1. Khảo sát ≥20 học viên về lần nghỉ gần nhất</a:t>
            </a:r>
          </a:p>
          <a:p xmlns:a="http://schemas.openxmlformats.org/drawingml/2006/main">
            <a:pPr>
              <a:defRPr sz="2025">
                <a:solidFill>
                  <a:srgbClr val="334155"/>
                </a:solidFill>
              </a:defRPr>
            </a:pPr>
            <a:r>
              <a:rPr sz="2025">
                <a:solidFill>
                  <a:srgbClr val="334155"/>
                </a:solidFill>
              </a:rPr>
              <a:t>2. Chạy Gemini thật trên đủ 20 case</a:t>
            </a:r>
          </a:p>
          <a:p xmlns:a="http://schemas.openxmlformats.org/drawingml/2006/main">
            <a:pPr>
              <a:defRPr sz="2025">
                <a:solidFill>
                  <a:srgbClr val="334155"/>
                </a:solidFill>
              </a:defRPr>
            </a:pPr>
            <a:r>
              <a:rPr sz="2025">
                <a:solidFill>
                  <a:srgbClr val="334155"/>
                </a:solidFill>
              </a:rPr>
              <a:t>3. User test ≥5 người và log quote nguyên văn</a:t>
            </a:r>
          </a:p>
          <a:p xmlns:a="http://schemas.openxmlformats.org/drawingml/2006/main">
            <a:pPr>
              <a:defRPr sz="2025">
                <a:solidFill>
                  <a:srgbClr val="334155"/>
                </a:solidFill>
              </a:defRPr>
            </a:pPr>
            <a:r>
              <a:rPr sz="2025">
                <a:solidFill>
                  <a:srgbClr val="334155"/>
                </a:solidFill>
              </a:rPr>
              <a:t>4. Thay quiz mẫu bằng ngân hàng quiz được phép dùng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10453C-995B-404C-8ABA-8C2EA243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</a:defRPr>
            </a:pPr>
            <a:r>
              <a:rPr sz="1275">
                <a:solidFill>
                  <a:srgbClr val="64748B"/>
                </a:solidFill>
              </a:rPr>
              <a:t>Mục tiêu: rút ngắn catch-up mà không đánh đổi độ tin cậy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FD92D0-80BC-41A0-82B4-CD7B5958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0483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CFF"/>
                </a:solidFill>
              </a:defRPr>
            </a:pPr>
            <a:r>
              <a:rPr sz="1200" b="1">
                <a:solidFill>
                  <a:srgbClr val="315CFF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797671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2026-07-30T05:09:30.7490000Z</dcterms:created>
  <dcterms:modified xsi:type="dcterms:W3CDTF">2026-07-30T05:09:30.7490000Z</dcterms:modified>
</coreProperties>
</file>